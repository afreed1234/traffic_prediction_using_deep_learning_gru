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sldIdLst>
    <p:sldId id="256" r:id="rId2"/>
    <p:sldId id="257" r:id="rId3"/>
    <p:sldId id="258" r:id="rId4"/>
    <p:sldId id="259" r:id="rId5"/>
    <p:sldId id="260" r:id="rId6"/>
    <p:sldId id="261" r:id="rId7"/>
    <p:sldId id="299" r:id="rId8"/>
    <p:sldId id="298" r:id="rId9"/>
    <p:sldId id="283" r:id="rId10"/>
    <p:sldId id="303" r:id="rId11"/>
    <p:sldId id="304" r:id="rId12"/>
    <p:sldId id="305" r:id="rId13"/>
    <p:sldId id="269" r:id="rId14"/>
    <p:sldId id="277" r:id="rId15"/>
    <p:sldId id="285" r:id="rId16"/>
    <p:sldId id="270" r:id="rId17"/>
  </p:sldIdLst>
  <p:sldSz cx="12192000" cy="6858000"/>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75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6BBDC0-7037-4C63-9B78-4E132364F8B1}"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8C686-2DFB-4EE8-BD9A-119D5A714FA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6BBDC0-7037-4C63-9B78-4E132364F8B1}"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8C686-2DFB-4EE8-BD9A-119D5A714FA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6BBDC0-7037-4C63-9B78-4E132364F8B1}"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8C686-2DFB-4EE8-BD9A-119D5A714FA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6BBDC0-7037-4C63-9B78-4E132364F8B1}" type="datetimeFigureOut">
              <a:rPr lang="en-IN" smtClean="0"/>
              <a:t>28-05-2024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18C686-2DFB-4EE8-BD9A-119D5A714FA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6BBDC0-7037-4C63-9B78-4E132364F8B1}" type="datetimeFigureOut">
              <a:rPr lang="en-IN" smtClean="0"/>
              <a:t>28-05-2024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18C686-2DFB-4EE8-BD9A-119D5A714FA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6BBDC0-7037-4C63-9B78-4E132364F8B1}" type="datetimeFigureOut">
              <a:rPr lang="en-IN" smtClean="0"/>
              <a:t>28-05-2024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18C686-2DFB-4EE8-BD9A-119D5A714FA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E6BBDC0-7037-4C63-9B78-4E132364F8B1}" type="datetimeFigureOut">
              <a:rPr lang="en-IN" smtClean="0"/>
              <a:t>28-05-2024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418C686-2DFB-4EE8-BD9A-119D5A714FA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E6BBDC0-7037-4C63-9B78-4E132364F8B1}" type="datetimeFigureOut">
              <a:rPr lang="en-IN" smtClean="0"/>
              <a:t>28-05-2024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418C686-2DFB-4EE8-BD9A-119D5A714FA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6BBDC0-7037-4C63-9B78-4E132364F8B1}" type="datetimeFigureOut">
              <a:rPr lang="en-IN" smtClean="0"/>
              <a:t>28-05-2024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18C686-2DFB-4EE8-BD9A-119D5A714FA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6BBDC0-7037-4C63-9B78-4E132364F8B1}"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8C686-2DFB-4EE8-BD9A-119D5A714FA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6BBDC0-7037-4C63-9B78-4E132364F8B1}"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8C686-2DFB-4EE8-BD9A-119D5A714FAE}"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6BBDC0-7037-4C63-9B78-4E132364F8B1}" type="datetimeFigureOut">
              <a:rPr lang="en-IN" smtClean="0"/>
              <a:t>28-05-2024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8C686-2DFB-4EE8-BD9A-119D5A714FA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E6BBDC0-7037-4C63-9B78-4E132364F8B1}" type="datetimeFigureOut">
              <a:rPr lang="en-IN" smtClean="0"/>
              <a:t>28-05-2024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418C686-2DFB-4EE8-BD9A-119D5A714FAE}"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oi.org/10.1002/9781119785750.ch5"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57287" y="249431"/>
            <a:ext cx="9877425" cy="1536700"/>
          </a:xfrm>
        </p:spPr>
        <p:txBody>
          <a:bodyPr>
            <a:noAutofit/>
          </a:bodyPr>
          <a:lstStyle/>
          <a:p>
            <a:pPr marL="0" marR="0" algn="ctr">
              <a:lnSpc>
                <a:spcPct val="115000"/>
              </a:lnSpc>
              <a:spcBef>
                <a:spcPts val="0"/>
              </a:spcBef>
              <a:spcAft>
                <a:spcPts val="0"/>
              </a:spcAft>
            </a:pPr>
            <a:r>
              <a:rPr lang="en-US" sz="2600" b="1" dirty="0">
                <a:solidFill>
                  <a:srgbClr val="002060"/>
                </a:solidFill>
                <a:effectLst/>
                <a:latin typeface="Calibri" panose="020F0502020204030204" pitchFamily="34" charset="0"/>
                <a:ea typeface="Arial" panose="020B0604020202020204" pitchFamily="34" charset="0"/>
                <a:cs typeface="Calibri" panose="020F0502020204030204" pitchFamily="34" charset="0"/>
              </a:rPr>
              <a:t>Channabasaveshwara Institute of Technology </a:t>
            </a:r>
            <a:br>
              <a:rPr lang="en-US" sz="2400" b="1" dirty="0">
                <a:effectLst/>
                <a:latin typeface="Calibri" panose="020F0502020204030204" pitchFamily="34" charset="0"/>
                <a:ea typeface="Arial" panose="020B0604020202020204" pitchFamily="34" charset="0"/>
                <a:cs typeface="Calibri" panose="020F0502020204030204" pitchFamily="34" charset="0"/>
              </a:rPr>
            </a:b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a:t>
            </a:r>
            <a:r>
              <a:rPr lang="en-US" sz="1800" cap="none"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Affiliated to</a:t>
            </a: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 VTU</a:t>
            </a:r>
            <a:r>
              <a:rPr lang="en-US" sz="1800" cap="none"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 Belagavi </a:t>
            </a: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&amp; </a:t>
            </a:r>
            <a:r>
              <a:rPr lang="en-US" sz="1800" cap="none"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Approved by</a:t>
            </a: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 AICTE, </a:t>
            </a:r>
            <a:r>
              <a:rPr lang="en-US" sz="1800" cap="none"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New </a:t>
            </a:r>
            <a:r>
              <a:rPr lang="en-US" sz="1800" cap="none" dirty="0">
                <a:solidFill>
                  <a:schemeClr val="accent5">
                    <a:lumMod val="50000"/>
                  </a:schemeClr>
                </a:solidFill>
                <a:latin typeface="Calibri" panose="020F0502020204030204" pitchFamily="34" charset="0"/>
                <a:ea typeface="Arial" panose="020B0604020202020204" pitchFamily="34" charset="0"/>
                <a:cs typeface="Calibri" panose="020F0502020204030204" pitchFamily="34" charset="0"/>
              </a:rPr>
              <a:t>D</a:t>
            </a:r>
            <a:r>
              <a:rPr lang="en-US" sz="1800" cap="none"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elhi</a:t>
            </a: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a:t>
            </a:r>
            <a:b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b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 ISO 9001:2015 </a:t>
            </a:r>
            <a:r>
              <a:rPr lang="en-US" sz="1800" cap="none"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certified institution</a:t>
            </a: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a:t>
            </a:r>
            <a:b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b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NH 206 (B H </a:t>
            </a:r>
            <a:r>
              <a:rPr lang="en-US" sz="1800" cap="none"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Road</a:t>
            </a: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 </a:t>
            </a:r>
            <a:r>
              <a:rPr lang="en-US" sz="1800" cap="none"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Gubbi</a:t>
            </a: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 </a:t>
            </a:r>
            <a:r>
              <a:rPr lang="en-US" sz="1800" cap="none" dirty="0" err="1">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Tumkur</a:t>
            </a:r>
            <a:r>
              <a:rPr lang="en-US" sz="1800" dirty="0">
                <a:solidFill>
                  <a:schemeClr val="accent5">
                    <a:lumMod val="50000"/>
                  </a:schemeClr>
                </a:solidFill>
                <a:effectLst/>
                <a:latin typeface="Calibri" panose="020F0502020204030204" pitchFamily="34" charset="0"/>
                <a:ea typeface="Arial" panose="020B0604020202020204" pitchFamily="34" charset="0"/>
                <a:cs typeface="Calibri" panose="020F0502020204030204" pitchFamily="34" charset="0"/>
              </a:rPr>
              <a:t> - 572216</a:t>
            </a:r>
            <a:endParaRPr lang="en-IN" sz="2000" dirty="0">
              <a:solidFill>
                <a:schemeClr val="accent5">
                  <a:lumMod val="50000"/>
                </a:schemeClr>
              </a:solidFill>
              <a:latin typeface="Calibri" panose="020F0502020204030204" pitchFamily="34" charset="0"/>
              <a:cs typeface="Calibri" panose="020F0502020204030204" pitchFamily="34" charset="0"/>
            </a:endParaRPr>
          </a:p>
        </p:txBody>
      </p:sp>
      <p:pic>
        <p:nvPicPr>
          <p:cNvPr id="6" name="image6.jpg"/>
          <p:cNvPicPr/>
          <p:nvPr/>
        </p:nvPicPr>
        <p:blipFill>
          <a:blip r:embed="rId2"/>
          <a:srcRect/>
          <a:stretch>
            <a:fillRect/>
          </a:stretch>
        </p:blipFill>
        <p:spPr>
          <a:xfrm>
            <a:off x="428793" y="453611"/>
            <a:ext cx="1954191" cy="982015"/>
          </a:xfrm>
          <a:prstGeom prst="rect">
            <a:avLst/>
          </a:prstGeom>
        </p:spPr>
      </p:pic>
      <p:pic>
        <p:nvPicPr>
          <p:cNvPr id="8" name="image7.png"/>
          <p:cNvPicPr/>
          <p:nvPr/>
        </p:nvPicPr>
        <p:blipFill>
          <a:blip r:embed="rId3"/>
          <a:srcRect/>
          <a:stretch>
            <a:fillRect/>
          </a:stretch>
        </p:blipFill>
        <p:spPr>
          <a:xfrm>
            <a:off x="10862662" y="429533"/>
            <a:ext cx="900545" cy="962041"/>
          </a:xfrm>
          <a:prstGeom prst="rect">
            <a:avLst/>
          </a:prstGeom>
        </p:spPr>
      </p:pic>
      <p:sp>
        <p:nvSpPr>
          <p:cNvPr id="9" name="TextBox 8"/>
          <p:cNvSpPr txBox="1"/>
          <p:nvPr/>
        </p:nvSpPr>
        <p:spPr>
          <a:xfrm>
            <a:off x="1052537" y="2478260"/>
            <a:ext cx="9878292" cy="2308324"/>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b="1" dirty="0">
                <a:solidFill>
                  <a:schemeClr val="accent2">
                    <a:lumMod val="75000"/>
                  </a:schemeClr>
                </a:solidFill>
                <a:latin typeface="Calibri" panose="020F0502020204030204" pitchFamily="34" charset="0"/>
                <a:cs typeface="Calibri" panose="020F0502020204030204" pitchFamily="34" charset="0"/>
              </a:rPr>
              <a:t>Internship Project Presentatio</a:t>
            </a:r>
            <a:r>
              <a:rPr lang="en-IN" dirty="0">
                <a:solidFill>
                  <a:schemeClr val="accent2">
                    <a:lumMod val="75000"/>
                  </a:schemeClr>
                </a:solidFill>
                <a:latin typeface="Calibri" panose="020F0502020204030204" pitchFamily="34" charset="0"/>
                <a:cs typeface="Calibri" panose="020F0502020204030204" pitchFamily="34" charset="0"/>
              </a:rPr>
              <a:t>n</a:t>
            </a:r>
          </a:p>
          <a:p>
            <a:pPr algn="ctr"/>
            <a:r>
              <a:rPr lang="en-IN" dirty="0">
                <a:solidFill>
                  <a:schemeClr val="accent2">
                    <a:lumMod val="75000"/>
                  </a:schemeClr>
                </a:solidFill>
                <a:latin typeface="Calibri" panose="020F0502020204030204" pitchFamily="34" charset="0"/>
                <a:cs typeface="Calibri" panose="020F0502020204030204" pitchFamily="34" charset="0"/>
              </a:rPr>
              <a:t>Carried out in</a:t>
            </a:r>
          </a:p>
          <a:p>
            <a:pPr algn="ctr"/>
            <a:endParaRPr lang="en-IN" dirty="0">
              <a:solidFill>
                <a:schemeClr val="accent2">
                  <a:lumMod val="75000"/>
                </a:schemeClr>
              </a:solidFill>
              <a:latin typeface="Calibri" panose="020F0502020204030204" pitchFamily="34" charset="0"/>
              <a:cs typeface="Calibri" panose="020F0502020204030204" pitchFamily="34" charset="0"/>
            </a:endParaRPr>
          </a:p>
          <a:p>
            <a:pPr algn="ctr"/>
            <a:endParaRPr lang="en-IN" dirty="0">
              <a:solidFill>
                <a:schemeClr val="accent2">
                  <a:lumMod val="75000"/>
                </a:schemeClr>
              </a:solidFill>
              <a:latin typeface="Calibri" panose="020F0502020204030204" pitchFamily="34" charset="0"/>
              <a:cs typeface="Calibri" panose="020F0502020204030204" pitchFamily="34" charset="0"/>
            </a:endParaRPr>
          </a:p>
          <a:p>
            <a:pPr algn="ctr"/>
            <a:r>
              <a:rPr lang="en-US" altLang="en-IN" sz="1800" b="1" dirty="0">
                <a:effectLst/>
                <a:latin typeface="Times New Roman" panose="02020603050405020304" pitchFamily="18" charset="0"/>
                <a:ea typeface="Times New Roman" panose="02020603050405020304" pitchFamily="18" charset="0"/>
              </a:rPr>
              <a:t>EUNO</a:t>
            </a:r>
            <a:r>
              <a:rPr lang="en-US" altLang="en-IN" b="1" dirty="0">
                <a:latin typeface="Times New Roman" panose="02020603050405020304" pitchFamily="18" charset="0"/>
                <a:ea typeface="Times New Roman" panose="02020603050405020304" pitchFamily="18" charset="0"/>
              </a:rPr>
              <a:t>IA</a:t>
            </a:r>
            <a:r>
              <a:rPr lang="en-US" altLang="en-IN" sz="1800" b="1" dirty="0">
                <a:effectLst/>
                <a:latin typeface="Times New Roman" panose="02020603050405020304" pitchFamily="18" charset="0"/>
                <a:ea typeface="Times New Roman" panose="02020603050405020304" pitchFamily="18" charset="0"/>
              </a:rPr>
              <a:t> LABS</a:t>
            </a:r>
            <a:endParaRPr lang="en-IN" sz="1800" b="1" dirty="0">
              <a:effectLst/>
              <a:latin typeface="Times New Roman" panose="02020603050405020304" pitchFamily="18" charset="0"/>
              <a:ea typeface="Times New Roman" panose="02020603050405020304" pitchFamily="18" charset="0"/>
            </a:endParaRPr>
          </a:p>
          <a:p>
            <a:pPr algn="ctr"/>
            <a:r>
              <a:rPr lang="en-IN" b="1" dirty="0">
                <a:solidFill>
                  <a:schemeClr val="accent2">
                    <a:lumMod val="75000"/>
                  </a:schemeClr>
                </a:solidFill>
                <a:latin typeface="Calibri" panose="020F0502020204030204" pitchFamily="34" charset="0"/>
                <a:cs typeface="Calibri" panose="020F0502020204030204" pitchFamily="34" charset="0"/>
              </a:rPr>
              <a:t>On</a:t>
            </a:r>
          </a:p>
          <a:p>
            <a:pPr algn="ctr"/>
            <a:r>
              <a:rPr lang="en-US" sz="3600" dirty="0">
                <a:ln w="0"/>
                <a:solidFill>
                  <a:srgbClr val="660033"/>
                </a:solidFill>
                <a:effectLst>
                  <a:outerShdw blurRad="38100" dist="25400" dir="5400000" algn="ctr" rotWithShape="0">
                    <a:srgbClr val="6E747A">
                      <a:alpha val="43000"/>
                    </a:srgbClr>
                  </a:outerShdw>
                </a:effectLst>
                <a:latin typeface="+mj-lt"/>
                <a:ea typeface="Times New Roman" panose="02020603050405020304" pitchFamily="18" charset="0"/>
                <a:cs typeface="Calibri" panose="020F0502020204030204" pitchFamily="34" charset="0"/>
              </a:rPr>
              <a:t>“ TRAFFIC PREDICTION USING DEEP LEARNING”</a:t>
            </a:r>
            <a:endParaRPr lang="en-IN" sz="3200" dirty="0">
              <a:ln w="0"/>
              <a:solidFill>
                <a:srgbClr val="660033"/>
              </a:solidFill>
              <a:effectLst>
                <a:outerShdw blurRad="38100" dist="25400" dir="5400000" algn="ctr" rotWithShape="0">
                  <a:srgbClr val="6E747A">
                    <a:alpha val="43000"/>
                  </a:srgbClr>
                </a:outerShdw>
              </a:effectLst>
              <a:latin typeface="+mj-lt"/>
              <a:cs typeface="Calibri" panose="020F0502020204030204" pitchFamily="34" charset="0"/>
            </a:endParaRPr>
          </a:p>
        </p:txBody>
      </p:sp>
      <p:sp>
        <p:nvSpPr>
          <p:cNvPr id="10" name="TextBox 9"/>
          <p:cNvSpPr txBox="1"/>
          <p:nvPr/>
        </p:nvSpPr>
        <p:spPr>
          <a:xfrm>
            <a:off x="1191491" y="4379740"/>
            <a:ext cx="10686282" cy="2270109"/>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pPr algn="just">
              <a:lnSpc>
                <a:spcPct val="150000"/>
              </a:lnSpc>
            </a:pPr>
            <a:endParaRPr lang="en-IN" sz="1600" b="1" dirty="0">
              <a:latin typeface="Calibri" panose="020F0502020204030204" pitchFamily="34" charset="0"/>
              <a:cs typeface="Calibri" panose="020F0502020204030204" pitchFamily="34" charset="0"/>
            </a:endParaRPr>
          </a:p>
          <a:p>
            <a:pPr algn="just">
              <a:lnSpc>
                <a:spcPct val="150000"/>
              </a:lnSpc>
            </a:pPr>
            <a:r>
              <a:rPr lang="en-IN" sz="1600" b="1" dirty="0">
                <a:latin typeface="Calibri" panose="020F0502020204030204" pitchFamily="34" charset="0"/>
                <a:cs typeface="Calibri" panose="020F0502020204030204" pitchFamily="34" charset="0"/>
              </a:rPr>
              <a:t>Presented by:													              Guided by:</a:t>
            </a:r>
          </a:p>
          <a:p>
            <a:pPr algn="just">
              <a:lnSpc>
                <a:spcPct val="150000"/>
              </a:lnSpc>
            </a:pPr>
            <a:r>
              <a:rPr lang="en-US" sz="1600" b="1" dirty="0">
                <a:latin typeface="Calibri" panose="020F0502020204030204" pitchFamily="34" charset="0"/>
                <a:cs typeface="Calibri" panose="020F0502020204030204" pitchFamily="34" charset="0"/>
              </a:rPr>
              <a:t>MOHAMMED AFREED ULLA</a:t>
            </a:r>
            <a:r>
              <a:rPr lang="en-IN" sz="1600" b="1" dirty="0">
                <a:latin typeface="Calibri" panose="020F0502020204030204" pitchFamily="34" charset="0"/>
                <a:cs typeface="Calibri" panose="020F0502020204030204" pitchFamily="34" charset="0"/>
              </a:rPr>
              <a:t>						</a:t>
            </a:r>
            <a:r>
              <a:rPr lang="en-US" altLang="en-IN" sz="1600" b="1" dirty="0">
                <a:latin typeface="Calibri" panose="020F0502020204030204" pitchFamily="34" charset="0"/>
                <a:cs typeface="Calibri" panose="020F0502020204030204" pitchFamily="34" charset="0"/>
              </a:rPr>
              <a:t>                   </a:t>
            </a:r>
            <a:r>
              <a:rPr lang="en-IN" sz="1600" b="1" dirty="0">
                <a:latin typeface="Calibri" panose="020F0502020204030204" pitchFamily="34" charset="0"/>
                <a:cs typeface="Calibri" panose="020F0502020204030204" pitchFamily="34" charset="0"/>
              </a:rPr>
              <a:t>				    Mr</a:t>
            </a:r>
            <a:r>
              <a:rPr lang="en-US" altLang="en-IN" sz="1600" b="1" dirty="0">
                <a:latin typeface="Calibri" panose="020F0502020204030204" pitchFamily="34" charset="0"/>
                <a:cs typeface="Calibri" panose="020F0502020204030204" pitchFamily="34" charset="0"/>
              </a:rPr>
              <a:t>s</a:t>
            </a:r>
            <a:r>
              <a:rPr lang="en-IN" sz="1600" b="1" dirty="0">
                <a:latin typeface="Calibri" panose="020F0502020204030204" pitchFamily="34" charset="0"/>
                <a:cs typeface="Calibri" panose="020F0502020204030204" pitchFamily="34" charset="0"/>
              </a:rPr>
              <a:t>. </a:t>
            </a:r>
            <a:r>
              <a:rPr lang="en-US" altLang="en-IN" sz="1600" b="1" dirty="0">
                <a:latin typeface="Calibri" panose="020F0502020204030204" pitchFamily="34" charset="0"/>
                <a:cs typeface="Calibri" panose="020F0502020204030204" pitchFamily="34" charset="0"/>
              </a:rPr>
              <a:t>Rashmi C R</a:t>
            </a:r>
            <a:r>
              <a:rPr lang="en-IN" sz="1600" b="1" dirty="0">
                <a:latin typeface="Calibri" panose="020F0502020204030204" pitchFamily="34" charset="0"/>
                <a:cs typeface="Calibri" panose="020F0502020204030204" pitchFamily="34" charset="0"/>
              </a:rPr>
              <a:t> </a:t>
            </a:r>
          </a:p>
          <a:p>
            <a:pPr algn="just">
              <a:lnSpc>
                <a:spcPct val="150000"/>
              </a:lnSpc>
            </a:pPr>
            <a:r>
              <a:rPr lang="en-IN" sz="1600" b="1" dirty="0">
                <a:latin typeface="Calibri" panose="020F0502020204030204" pitchFamily="34" charset="0"/>
                <a:cs typeface="Calibri" panose="020F0502020204030204" pitchFamily="34" charset="0"/>
              </a:rPr>
              <a:t>1CG20CS055													              Assistant professor</a:t>
            </a:r>
          </a:p>
          <a:p>
            <a:pPr algn="just">
              <a:lnSpc>
                <a:spcPct val="150000"/>
              </a:lnSpc>
            </a:pPr>
            <a:r>
              <a:rPr lang="en-IN" sz="1600" b="1" dirty="0">
                <a:latin typeface="Calibri" panose="020F0502020204030204" pitchFamily="34" charset="0"/>
                <a:cs typeface="Calibri" panose="020F0502020204030204" pitchFamily="34" charset="0"/>
              </a:rPr>
              <a:t>CIT, GUBBI 													              Department of CSE  CIT, GUBBI</a:t>
            </a:r>
          </a:p>
          <a:p>
            <a:pPr algn="just">
              <a:lnSpc>
                <a:spcPct val="150000"/>
              </a:lnSpc>
            </a:pPr>
            <a:r>
              <a:rPr lang="en-IN" sz="1600" b="1" dirty="0">
                <a:latin typeface="Calibri" panose="020F0502020204030204" pitchFamily="34" charset="0"/>
                <a:cs typeface="Calibri" panose="020F0502020204030204" pitchFamily="34" charset="0"/>
              </a:rPr>
              <a:t>															</a:t>
            </a:r>
          </a:p>
        </p:txBody>
      </p:sp>
      <p:sp>
        <p:nvSpPr>
          <p:cNvPr id="11" name="TextBox 10"/>
          <p:cNvSpPr txBox="1"/>
          <p:nvPr/>
        </p:nvSpPr>
        <p:spPr>
          <a:xfrm>
            <a:off x="1191491" y="1853697"/>
            <a:ext cx="10030692" cy="706755"/>
          </a:xfrm>
          <a:prstGeom prst="rect">
            <a:avLst/>
          </a:prstGeom>
          <a:noFill/>
        </p:spPr>
        <p:txBody>
          <a:bodyPr wrap="square" rtlCol="0">
            <a:spAutoFit/>
          </a:bodyPr>
          <a:lstStyle/>
          <a:p>
            <a:pPr algn="ctr"/>
            <a:r>
              <a:rPr lang="en-IN" sz="2000" b="1" dirty="0">
                <a:solidFill>
                  <a:srgbClr val="C00000"/>
                </a:solidFill>
                <a:latin typeface="Calibri" panose="020F0502020204030204" pitchFamily="34" charset="0"/>
                <a:cs typeface="Calibri" panose="020F0502020204030204" pitchFamily="34" charset="0"/>
              </a:rPr>
              <a:t>Department of Computer Science and Engineering</a:t>
            </a:r>
          </a:p>
          <a:p>
            <a:pPr algn="ctr"/>
            <a:r>
              <a:rPr lang="en-IN" sz="2000" b="1" dirty="0">
                <a:solidFill>
                  <a:srgbClr val="C00000"/>
                </a:solidFill>
                <a:latin typeface="Calibri" panose="020F0502020204030204" pitchFamily="34" charset="0"/>
                <a:cs typeface="Calibri" panose="020F0502020204030204" pitchFamily="34" charset="0"/>
              </a:rPr>
              <a:t>202</a:t>
            </a:r>
            <a:r>
              <a:rPr lang="en-US" sz="2000" b="1" dirty="0">
                <a:solidFill>
                  <a:srgbClr val="C00000"/>
                </a:solidFill>
                <a:latin typeface="Calibri" panose="020F0502020204030204" pitchFamily="34" charset="0"/>
                <a:cs typeface="Calibri" panose="020F0502020204030204" pitchFamily="34" charset="0"/>
              </a:rPr>
              <a:t>3</a:t>
            </a:r>
            <a:r>
              <a:rPr lang="en-IN" sz="2000" b="1" dirty="0">
                <a:solidFill>
                  <a:srgbClr val="C00000"/>
                </a:solidFill>
                <a:latin typeface="Calibri" panose="020F0502020204030204" pitchFamily="34" charset="0"/>
                <a:cs typeface="Calibri" panose="020F0502020204030204" pitchFamily="34" charset="0"/>
              </a:rPr>
              <a:t>-2</a:t>
            </a:r>
            <a:r>
              <a:rPr lang="en-US" sz="2000" b="1" dirty="0">
                <a:solidFill>
                  <a:srgbClr val="C00000"/>
                </a:solidFill>
                <a:latin typeface="Calibri" panose="020F0502020204030204" pitchFamily="34" charset="0"/>
                <a:cs typeface="Calibri" panose="020F0502020204030204" pitchFamily="34" charset="0"/>
              </a:rPr>
              <a:t>4</a:t>
            </a:r>
            <a:endParaRPr lang="en-US" altLang="en-IN" sz="2000" b="1" dirty="0">
              <a:solidFill>
                <a:srgbClr val="C00000"/>
              </a:solidFill>
              <a:latin typeface="Calibri" panose="020F0502020204030204" pitchFamily="34" charset="0"/>
              <a:cs typeface="Calibri" panose="020F0502020204030204" pitchFamily="34" charset="0"/>
            </a:endParaRPr>
          </a:p>
        </p:txBody>
      </p:sp>
      <p:pic>
        <p:nvPicPr>
          <p:cNvPr id="3" name="image3.png">
            <a:extLst>
              <a:ext uri="{FF2B5EF4-FFF2-40B4-BE49-F238E27FC236}">
                <a16:creationId xmlns:a16="http://schemas.microsoft.com/office/drawing/2014/main" id="{413B5771-68BA-9627-73E9-2F5668EECB98}"/>
              </a:ext>
            </a:extLst>
          </p:cNvPr>
          <p:cNvPicPr>
            <a:picLocks noChangeAspect="1"/>
          </p:cNvPicPr>
          <p:nvPr/>
        </p:nvPicPr>
        <p:blipFill>
          <a:blip r:embed="rId4" cstate="print"/>
          <a:stretch>
            <a:fillRect/>
          </a:stretch>
        </p:blipFill>
        <p:spPr>
          <a:xfrm>
            <a:off x="4979175" y="3022575"/>
            <a:ext cx="2025015" cy="553085"/>
          </a:xfrm>
          <a:prstGeom prst="rect">
            <a:avLst/>
          </a:prstGeom>
        </p:spPr>
      </p:pic>
      <p:pic>
        <p:nvPicPr>
          <p:cNvPr id="4" name="image1.png">
            <a:extLst>
              <a:ext uri="{FF2B5EF4-FFF2-40B4-BE49-F238E27FC236}">
                <a16:creationId xmlns:a16="http://schemas.microsoft.com/office/drawing/2014/main" id="{BCFA1486-81A1-8B15-617A-4A8A0A13CD80}"/>
              </a:ext>
            </a:extLst>
          </p:cNvPr>
          <p:cNvPicPr>
            <a:picLocks noChangeAspect="1"/>
          </p:cNvPicPr>
          <p:nvPr/>
        </p:nvPicPr>
        <p:blipFill>
          <a:blip r:embed="rId5"/>
          <a:srcRect/>
          <a:stretch>
            <a:fillRect/>
          </a:stretch>
        </p:blipFill>
        <p:spPr>
          <a:xfrm>
            <a:off x="9702049" y="453611"/>
            <a:ext cx="1016227" cy="96918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9905998" cy="1094509"/>
          </a:xfrm>
        </p:spPr>
        <p:txBody>
          <a:bodyPr anchor="ctr"/>
          <a:lstStyle/>
          <a:p>
            <a:pPr algn="ctr"/>
            <a:r>
              <a:rPr lang="en-IN" dirty="0">
                <a:latin typeface="Calibri" panose="020F0502020204030204" pitchFamily="34" charset="0"/>
                <a:cs typeface="Calibri" panose="020F0502020204030204" pitchFamily="34" charset="0"/>
              </a:rPr>
              <a:t>CONTENTS</a:t>
            </a:r>
          </a:p>
        </p:txBody>
      </p:sp>
      <p:sp>
        <p:nvSpPr>
          <p:cNvPr id="3" name="Content Placeholder 2"/>
          <p:cNvSpPr>
            <a:spLocks noGrp="1"/>
          </p:cNvSpPr>
          <p:nvPr>
            <p:ph idx="1"/>
          </p:nvPr>
        </p:nvSpPr>
        <p:spPr>
          <a:xfrm>
            <a:off x="1141413" y="1898073"/>
            <a:ext cx="9905998" cy="4350327"/>
          </a:xfrm>
        </p:spPr>
        <p:txBody>
          <a:bodyPr>
            <a:normAutofit/>
          </a:bodyPr>
          <a:lstStyle/>
          <a:p>
            <a:pPr marL="273050" indent="-273050">
              <a:buClr>
                <a:srgbClr val="002060"/>
              </a:buCl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Introduction</a:t>
            </a:r>
          </a:p>
          <a:p>
            <a:pPr marL="273050" indent="-2730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Problem statement</a:t>
            </a:r>
            <a:endParaRPr lang="en-US" sz="2000" dirty="0">
              <a:solidFill>
                <a:schemeClr val="tx1"/>
              </a:solidFill>
              <a:latin typeface="Times New Roman" panose="02020603050405020304" pitchFamily="18" charset="0"/>
              <a:cs typeface="Times New Roman" panose="02020603050405020304" pitchFamily="18" charset="0"/>
            </a:endParaRPr>
          </a:p>
          <a:p>
            <a:pPr marL="273050" indent="-273050">
              <a:buClr>
                <a:srgbClr val="002060"/>
              </a:buCl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Objectives</a:t>
            </a:r>
          </a:p>
          <a:p>
            <a:pPr marL="273050" indent="-273050">
              <a:buClr>
                <a:srgbClr val="002060"/>
              </a:buCl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M</a:t>
            </a:r>
            <a:r>
              <a:rPr lang="en-US" sz="2000" dirty="0">
                <a:solidFill>
                  <a:schemeClr val="tx1"/>
                </a:solidFill>
                <a:latin typeface="Times New Roman" panose="02020603050405020304" pitchFamily="18" charset="0"/>
                <a:cs typeface="Times New Roman" panose="02020603050405020304" pitchFamily="18" charset="0"/>
              </a:rPr>
              <a:t>ethodology</a:t>
            </a:r>
          </a:p>
          <a:p>
            <a:pPr marL="273050" indent="-273050">
              <a:buClr>
                <a:srgbClr val="002060"/>
              </a:buClr>
              <a:buFont typeface="Wingdings" panose="05000000000000000000" pitchFamily="2" charset="2"/>
              <a:buChar char="Ø"/>
            </a:pPr>
            <a:r>
              <a:rPr lang="en-US" sz="2000">
                <a:solidFill>
                  <a:schemeClr val="tx1"/>
                </a:solidFill>
                <a:latin typeface="Times New Roman" panose="02020603050405020304" pitchFamily="18" charset="0"/>
                <a:cs typeface="Times New Roman" panose="02020603050405020304" pitchFamily="18" charset="0"/>
              </a:rPr>
              <a:t>Result</a:t>
            </a:r>
            <a:endParaRPr lang="en-US" sz="2000" dirty="0">
              <a:solidFill>
                <a:schemeClr val="tx1"/>
              </a:solidFill>
              <a:latin typeface="Times New Roman" panose="02020603050405020304" pitchFamily="18" charset="0"/>
              <a:cs typeface="Times New Roman" panose="02020603050405020304" pitchFamily="18" charset="0"/>
            </a:endParaRPr>
          </a:p>
          <a:p>
            <a:pPr marL="273050" indent="-273050">
              <a:buClr>
                <a:srgbClr val="002060"/>
              </a:buCl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Conclusion</a:t>
            </a:r>
          </a:p>
          <a:p>
            <a:pPr marL="273050" indent="-273050">
              <a:buClr>
                <a:srgbClr val="002060"/>
              </a:buCl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Reference</a:t>
            </a:r>
          </a:p>
          <a:p>
            <a:pPr marL="0" indent="0">
              <a:buClr>
                <a:srgbClr val="002060"/>
              </a:buClr>
              <a:buNone/>
            </a:pPr>
            <a:endParaRPr lang="en-US" sz="2000" dirty="0">
              <a:solidFill>
                <a:schemeClr val="tx1"/>
              </a:solidFill>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483" y="381000"/>
            <a:ext cx="9905998" cy="1094509"/>
          </a:xfrm>
        </p:spPr>
        <p:txBody>
          <a:bodyPr anchor="ctr"/>
          <a:lstStyle/>
          <a:p>
            <a:pPr algn="ctr"/>
            <a:r>
              <a:rPr lang="en-IN" dirty="0">
                <a:latin typeface="Calibri" panose="020F0502020204030204" pitchFamily="34" charset="0"/>
                <a:cs typeface="Calibri" panose="020F0502020204030204" pitchFamily="34" charset="0"/>
              </a:rPr>
              <a:t>INTRODUCTION</a:t>
            </a:r>
          </a:p>
        </p:txBody>
      </p:sp>
      <p:sp>
        <p:nvSpPr>
          <p:cNvPr id="3" name="Content Placeholder 2"/>
          <p:cNvSpPr>
            <a:spLocks noGrp="1"/>
          </p:cNvSpPr>
          <p:nvPr>
            <p:ph idx="1"/>
          </p:nvPr>
        </p:nvSpPr>
        <p:spPr>
          <a:xfrm>
            <a:off x="457029" y="1603185"/>
            <a:ext cx="11277941" cy="4599652"/>
          </a:xfrm>
        </p:spPr>
        <p:txBody>
          <a:bodyPr>
            <a:noAutofit/>
          </a:bodyPr>
          <a:lstStyle/>
          <a:p>
            <a:pPr algn="just">
              <a:lnSpc>
                <a:spcPct val="140000"/>
              </a:lnSpc>
              <a:buClr>
                <a:srgbClr val="002060"/>
              </a:buClr>
              <a:buFont typeface="Wingdings" panose="05000000000000000000" charset="0"/>
              <a:buChar char="Ø"/>
            </a:pPr>
            <a:r>
              <a:rPr lang="en-US" dirty="0">
                <a:solidFill>
                  <a:schemeClr val="tx1"/>
                </a:solidFill>
                <a:effectLst/>
                <a:latin typeface="Times New Roman" panose="02020603050405020304" pitchFamily="18" charset="0"/>
                <a:ea typeface="Cambria" panose="02040503050406030204" pitchFamily="18" charset="0"/>
                <a:cs typeface="Cambria" panose="02040503050406030204" pitchFamily="18" charset="0"/>
                <a:sym typeface="+mn-ea"/>
              </a:rPr>
              <a:t>Deep learning is a method in artificial intelligence (AI) that teaches computers to process data in a way that is inspired by the human brain.</a:t>
            </a:r>
          </a:p>
          <a:p>
            <a:pPr algn="just">
              <a:lnSpc>
                <a:spcPct val="140000"/>
              </a:lnSpc>
              <a:buClr>
                <a:srgbClr val="002060"/>
              </a:buClr>
              <a:buFont typeface="Wingdings" panose="05000000000000000000" charset="0"/>
              <a:buChar char="Ø"/>
            </a:pPr>
            <a:r>
              <a:rPr lang="en-US"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Traffic congestion affects the country’s economy directly or indirectly by its means.</a:t>
            </a:r>
          </a:p>
          <a:p>
            <a:pPr algn="just">
              <a:lnSpc>
                <a:spcPct val="140000"/>
              </a:lnSpc>
              <a:buClr>
                <a:srgbClr val="002060"/>
              </a:buClr>
              <a:buFont typeface="Wingdings" panose="05000000000000000000" charset="0"/>
              <a:buChar char="Ø"/>
            </a:pPr>
            <a:r>
              <a:rPr lang="en-US"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Traffic congestion also takes people’s valuable time , cost of fuel every single day. </a:t>
            </a:r>
          </a:p>
          <a:p>
            <a:pPr algn="just">
              <a:lnSpc>
                <a:spcPct val="140000"/>
              </a:lnSpc>
              <a:buClr>
                <a:srgbClr val="002060"/>
              </a:buClr>
              <a:buFont typeface="Wingdings" panose="05000000000000000000" charset="0"/>
              <a:buChar char="Ø"/>
            </a:pPr>
            <a:r>
              <a:rPr lang="en-US"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As traffic congestion is a major problem for all classes in society, there has to be a small-scale traffic prediction for the people’s sake of living their lives without frustration or tension. For ensuring the country’s economic growth, the road user’s ease is required in the first place.</a:t>
            </a:r>
          </a:p>
          <a:p>
            <a:pPr algn="just">
              <a:lnSpc>
                <a:spcPct val="140000"/>
              </a:lnSpc>
              <a:buClr>
                <a:srgbClr val="002060"/>
              </a:buClr>
              <a:buFont typeface="Wingdings" panose="05000000000000000000" charset="0"/>
              <a:buChar char="Ø"/>
            </a:pPr>
            <a:r>
              <a:rPr lang="en-US"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This is possible only when the traffic flow is smooth. To deal with this, Traffic prediction is needed  so that we can estimate or predict the future traffic to some extent.</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9905998" cy="1094509"/>
          </a:xfrm>
        </p:spPr>
        <p:txBody>
          <a:bodyPr anchor="ctr"/>
          <a:lstStyle/>
          <a:p>
            <a:pPr algn="ctr"/>
            <a:r>
              <a:rPr lang="en-IN" dirty="0">
                <a:latin typeface="Calibri" panose="020F0502020204030204" pitchFamily="34" charset="0"/>
                <a:cs typeface="Calibri" panose="020F0502020204030204" pitchFamily="34" charset="0"/>
              </a:rPr>
              <a:t>PROBLEM STATEMENT</a:t>
            </a:r>
          </a:p>
        </p:txBody>
      </p:sp>
      <p:sp>
        <p:nvSpPr>
          <p:cNvPr id="3" name="Content Placeholder 2"/>
          <p:cNvSpPr>
            <a:spLocks noGrp="1"/>
          </p:cNvSpPr>
          <p:nvPr>
            <p:ph idx="1"/>
          </p:nvPr>
        </p:nvSpPr>
        <p:spPr>
          <a:xfrm>
            <a:off x="914400" y="1600200"/>
            <a:ext cx="10478770" cy="4544060"/>
          </a:xfrm>
        </p:spPr>
        <p:txBody>
          <a:bodyPr>
            <a:normAutofit/>
          </a:bodyPr>
          <a:lstStyle/>
          <a:p>
            <a:pPr marL="0" indent="0" algn="just">
              <a:lnSpc>
                <a:spcPct val="150000"/>
              </a:lnSpc>
              <a:buNone/>
            </a:pP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r>
              <a:rPr lang="en-US" altLang="en-IN" dirty="0">
                <a:solidFill>
                  <a:schemeClr val="tx1"/>
                </a:solidFill>
                <a:effectLst/>
                <a:latin typeface="Times New Roman" panose="02020603050405020304" pitchFamily="18" charset="0"/>
                <a:ea typeface="Times New Roman" panose="02020603050405020304" pitchFamily="18" charset="0"/>
              </a:rPr>
              <a:t>In modern urban environments, traffic congestion is a significant issue affecting millions of people daily. The goal of this project is to develop a deep learning model to predict traffic congestion at four different junctions within a city.</a:t>
            </a:r>
          </a:p>
          <a:p>
            <a:pPr algn="l">
              <a:lnSpc>
                <a:spcPct val="150000"/>
              </a:lnSpc>
              <a:buFont typeface="Wingdings" panose="05000000000000000000" charset="0"/>
              <a:buChar char="Ø"/>
            </a:pPr>
            <a:endParaRPr lang="en-US" altLang="en-IN" dirty="0">
              <a:solidFill>
                <a:schemeClr val="tx1"/>
              </a:solidFill>
              <a:effectLst/>
              <a:latin typeface="Times New Roman" panose="02020603050405020304" pitchFamily="18" charset="0"/>
              <a:ea typeface="Times New Roman" panose="02020603050405020304" pitchFamily="18" charset="0"/>
            </a:endParaRPr>
          </a:p>
          <a:p>
            <a:pPr marL="0" indent="0" algn="l">
              <a:lnSpc>
                <a:spcPct val="150000"/>
              </a:lnSpc>
              <a:buNone/>
            </a:pPr>
            <a:endParaRPr lang="en-US" sz="2000" dirty="0">
              <a:solidFill>
                <a:schemeClr val="tx1"/>
              </a:solidFill>
              <a:latin typeface="Calibri" panose="020F0502020204030204" pitchFamily="34" charset="0"/>
              <a:cs typeface="Calibri" panose="020F0502020204030204" pitchFamily="34" charset="0"/>
            </a:endParaRPr>
          </a:p>
        </p:txBody>
      </p:sp>
      <p:sp>
        <p:nvSpPr>
          <p:cNvPr id="4" name="Rectangle 2"/>
          <p:cNvSpPr>
            <a:spLocks noChangeArrowheads="1"/>
          </p:cNvSpPr>
          <p:nvPr/>
        </p:nvSpPr>
        <p:spPr bwMode="auto">
          <a:xfrm>
            <a:off x="0" y="-229035"/>
            <a:ext cx="122816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9905998" cy="1094509"/>
          </a:xfrm>
        </p:spPr>
        <p:txBody>
          <a:bodyPr anchor="ctr"/>
          <a:lstStyle/>
          <a:p>
            <a:pPr algn="ctr"/>
            <a:r>
              <a:rPr lang="en-IN" dirty="0">
                <a:latin typeface="Calibri" panose="020F0502020204030204" pitchFamily="34" charset="0"/>
                <a:cs typeface="Calibri" panose="020F0502020204030204" pitchFamily="34" charset="0"/>
              </a:rPr>
              <a:t>OBJECTIVES</a:t>
            </a:r>
          </a:p>
        </p:txBody>
      </p:sp>
      <p:sp>
        <p:nvSpPr>
          <p:cNvPr id="3" name="Content Placeholder 2"/>
          <p:cNvSpPr>
            <a:spLocks noGrp="1"/>
          </p:cNvSpPr>
          <p:nvPr>
            <p:ph idx="1"/>
          </p:nvPr>
        </p:nvSpPr>
        <p:spPr>
          <a:xfrm>
            <a:off x="1141413" y="1704108"/>
            <a:ext cx="9905998" cy="4544291"/>
          </a:xfrm>
        </p:spPr>
        <p:txBody>
          <a:bodyPr>
            <a:normAutofit/>
          </a:bodyPr>
          <a:lstStyle/>
          <a:p>
            <a:pPr algn="just">
              <a:lnSpc>
                <a:spcPct val="150000"/>
              </a:lnSpc>
              <a:buFont typeface="Wingdings" panose="05000000000000000000" charset="0"/>
              <a:buChar char="Ø"/>
            </a:pPr>
            <a:r>
              <a:rPr lang="en-US" sz="2400" dirty="0">
                <a:solidFill>
                  <a:schemeClr val="tx1"/>
                </a:solidFill>
                <a:latin typeface="Times New Roman" panose="02020603050405020304" pitchFamily="18" charset="0"/>
                <a:cs typeface="Times New Roman" panose="02020603050405020304" pitchFamily="18" charset="0"/>
              </a:rPr>
              <a:t>Design and train Deep learning Model, such as GRU Model to predict traffic conditions for 4 different junctions.</a:t>
            </a:r>
          </a:p>
          <a:p>
            <a:pPr algn="just">
              <a:lnSpc>
                <a:spcPct val="150000"/>
              </a:lnSpc>
              <a:buFont typeface="Wingdings" panose="05000000000000000000" charset="0"/>
              <a:buChar char="Ø"/>
            </a:pPr>
            <a:r>
              <a:rPr lang="en-US" sz="2400" dirty="0">
                <a:solidFill>
                  <a:schemeClr val="tx1"/>
                </a:solidFill>
                <a:latin typeface="Times New Roman" panose="02020603050405020304" pitchFamily="18" charset="0"/>
                <a:cs typeface="Times New Roman" panose="02020603050405020304" pitchFamily="18" charset="0"/>
              </a:rPr>
              <a:t>Optimize model performance to enhance the accuracy of traffic forecasts.</a:t>
            </a:r>
          </a:p>
          <a:p>
            <a:pPr algn="just">
              <a:lnSpc>
                <a:spcPct val="150000"/>
              </a:lnSpc>
              <a:buFont typeface="Wingdings" panose="05000000000000000000" charset="0"/>
              <a:buChar char="Ø"/>
            </a:pPr>
            <a:endParaRPr lang="en-US" sz="2400" dirty="0">
              <a:solidFill>
                <a:schemeClr val="tx1"/>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93509" y="198243"/>
            <a:ext cx="9871075" cy="873125"/>
          </a:xfrm>
        </p:spPr>
        <p:txBody>
          <a:bodyPr>
            <a:normAutofit fontScale="90000"/>
          </a:bodyPr>
          <a:lstStyle/>
          <a:p>
            <a:br>
              <a:rPr lang="en-IN" b="1" dirty="0"/>
            </a:br>
            <a:r>
              <a:rPr lang="en-US" altLang="en-IN" b="1" dirty="0"/>
              <a:t>                        </a:t>
            </a:r>
            <a:r>
              <a:rPr lang="en-US" altLang="en-IN" sz="5335" dirty="0">
                <a:latin typeface="Calibri "/>
                <a:cs typeface="Times New Roman" panose="02020603050405020304" pitchFamily="18" charset="0"/>
              </a:rPr>
              <a:t>METHODOLOGY</a:t>
            </a:r>
            <a:endParaRPr lang="en-IN" sz="5335" dirty="0">
              <a:latin typeface="Calibri "/>
              <a:cs typeface="Times New Roman" panose="02020603050405020304" pitchFamily="18" charset="0"/>
            </a:endParaRPr>
          </a:p>
        </p:txBody>
      </p:sp>
      <p:grpSp>
        <p:nvGrpSpPr>
          <p:cNvPr id="6" name="Group 5">
            <a:extLst>
              <a:ext uri="{FF2B5EF4-FFF2-40B4-BE49-F238E27FC236}">
                <a16:creationId xmlns:a16="http://schemas.microsoft.com/office/drawing/2014/main" id="{465A604D-3DA6-B439-BA2C-ADA5C00B8524}"/>
              </a:ext>
            </a:extLst>
          </p:cNvPr>
          <p:cNvGrpSpPr/>
          <p:nvPr/>
        </p:nvGrpSpPr>
        <p:grpSpPr>
          <a:xfrm>
            <a:off x="2472161" y="1927974"/>
            <a:ext cx="7567897" cy="4201908"/>
            <a:chOff x="0" y="0"/>
            <a:chExt cx="5985933" cy="2285772"/>
          </a:xfrm>
        </p:grpSpPr>
        <p:sp>
          <p:nvSpPr>
            <p:cNvPr id="9" name="Flowchart: Magnetic Disk 8">
              <a:extLst>
                <a:ext uri="{FF2B5EF4-FFF2-40B4-BE49-F238E27FC236}">
                  <a16:creationId xmlns:a16="http://schemas.microsoft.com/office/drawing/2014/main" id="{968A6E39-239F-9C4E-2690-B8876286E435}"/>
                </a:ext>
              </a:extLst>
            </p:cNvPr>
            <p:cNvSpPr/>
            <p:nvPr/>
          </p:nvSpPr>
          <p:spPr>
            <a:xfrm>
              <a:off x="0" y="0"/>
              <a:ext cx="1542415" cy="563880"/>
            </a:xfrm>
            <a:prstGeom prst="flowChartMagneticDisk">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100">
                  <a:effectLst/>
                  <a:latin typeface="Times New Roman" panose="02020603050405020304" pitchFamily="18" charset="0"/>
                  <a:ea typeface="Times New Roman" panose="02020603050405020304" pitchFamily="18" charset="0"/>
                </a:rPr>
                <a:t>Traffic Data Collection</a:t>
              </a:r>
            </a:p>
          </p:txBody>
        </p:sp>
        <p:sp>
          <p:nvSpPr>
            <p:cNvPr id="10" name="Flowchart: Process 9">
              <a:extLst>
                <a:ext uri="{FF2B5EF4-FFF2-40B4-BE49-F238E27FC236}">
                  <a16:creationId xmlns:a16="http://schemas.microsoft.com/office/drawing/2014/main" id="{5D8B1AD8-A2F5-7F5A-76FF-B7D8EB91CCDE}"/>
                </a:ext>
              </a:extLst>
            </p:cNvPr>
            <p:cNvSpPr/>
            <p:nvPr/>
          </p:nvSpPr>
          <p:spPr>
            <a:xfrm>
              <a:off x="2277533" y="76200"/>
              <a:ext cx="1394460" cy="365760"/>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100">
                  <a:effectLst/>
                  <a:latin typeface="Times New Roman" panose="02020603050405020304" pitchFamily="18" charset="0"/>
                  <a:ea typeface="Times New Roman" panose="02020603050405020304" pitchFamily="18" charset="0"/>
                </a:rPr>
                <a:t>Data </a:t>
              </a:r>
              <a:r>
                <a:rPr lang="en-US" sz="1200">
                  <a:effectLst/>
                  <a:latin typeface="Times New Roman" panose="02020603050405020304" pitchFamily="18" charset="0"/>
                  <a:ea typeface="Times New Roman" panose="02020603050405020304" pitchFamily="18" charset="0"/>
                </a:rPr>
                <a:t>Preprocessing</a:t>
              </a:r>
              <a:endParaRPr lang="en-US" sz="1100">
                <a:effectLst/>
                <a:latin typeface="Times New Roman" panose="02020603050405020304" pitchFamily="18" charset="0"/>
                <a:ea typeface="Times New Roman" panose="02020603050405020304" pitchFamily="18" charset="0"/>
              </a:endParaRPr>
            </a:p>
          </p:txBody>
        </p:sp>
        <p:sp>
          <p:nvSpPr>
            <p:cNvPr id="11" name="Flowchart: Alternate Process 10">
              <a:extLst>
                <a:ext uri="{FF2B5EF4-FFF2-40B4-BE49-F238E27FC236}">
                  <a16:creationId xmlns:a16="http://schemas.microsoft.com/office/drawing/2014/main" id="{22976A22-E3AF-546E-54D1-11B33084C660}"/>
                </a:ext>
              </a:extLst>
            </p:cNvPr>
            <p:cNvSpPr/>
            <p:nvPr/>
          </p:nvSpPr>
          <p:spPr>
            <a:xfrm>
              <a:off x="4529667" y="84667"/>
              <a:ext cx="1402080" cy="373380"/>
            </a:xfrm>
            <a:prstGeom prst="flowChartAlternate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100" dirty="0">
                  <a:effectLst/>
                  <a:latin typeface="Times New Roman" panose="02020603050405020304" pitchFamily="18" charset="0"/>
                  <a:ea typeface="Times New Roman" panose="02020603050405020304" pitchFamily="18" charset="0"/>
                </a:rPr>
                <a:t>Data Analysis</a:t>
              </a:r>
            </a:p>
          </p:txBody>
        </p:sp>
        <p:sp>
          <p:nvSpPr>
            <p:cNvPr id="12" name="Flowchart: Process 11">
              <a:extLst>
                <a:ext uri="{FF2B5EF4-FFF2-40B4-BE49-F238E27FC236}">
                  <a16:creationId xmlns:a16="http://schemas.microsoft.com/office/drawing/2014/main" id="{22B89D54-ABB2-8A78-3272-EC5284F0FB99}"/>
                </a:ext>
              </a:extLst>
            </p:cNvPr>
            <p:cNvSpPr/>
            <p:nvPr/>
          </p:nvSpPr>
          <p:spPr>
            <a:xfrm>
              <a:off x="4563533" y="1083734"/>
              <a:ext cx="1422400" cy="389255"/>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200" dirty="0">
                  <a:latin typeface="Times New Roman" panose="02020603050405020304" pitchFamily="18" charset="0"/>
                  <a:ea typeface="Times New Roman" panose="02020603050405020304" pitchFamily="18" charset="0"/>
                </a:rPr>
                <a:t>Data Transformation</a:t>
              </a:r>
              <a:endParaRPr lang="en-US" sz="1100" dirty="0">
                <a:effectLst/>
                <a:latin typeface="Times New Roman" panose="02020603050405020304" pitchFamily="18" charset="0"/>
                <a:ea typeface="Times New Roman" panose="02020603050405020304" pitchFamily="18" charset="0"/>
              </a:endParaRPr>
            </a:p>
          </p:txBody>
        </p:sp>
        <p:sp>
          <p:nvSpPr>
            <p:cNvPr id="13" name="Flowchart: Process 12">
              <a:extLst>
                <a:ext uri="{FF2B5EF4-FFF2-40B4-BE49-F238E27FC236}">
                  <a16:creationId xmlns:a16="http://schemas.microsoft.com/office/drawing/2014/main" id="{C7CA5F0B-56F5-9E33-E5BD-6761328F45DF}"/>
                </a:ext>
              </a:extLst>
            </p:cNvPr>
            <p:cNvSpPr/>
            <p:nvPr/>
          </p:nvSpPr>
          <p:spPr>
            <a:xfrm>
              <a:off x="2243667" y="1083734"/>
              <a:ext cx="1498600" cy="389466"/>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100" dirty="0">
                  <a:latin typeface="Times New Roman" panose="02020603050405020304" pitchFamily="18" charset="0"/>
                  <a:ea typeface="Times New Roman" panose="02020603050405020304" pitchFamily="18" charset="0"/>
                </a:rPr>
                <a:t>Build Model</a:t>
              </a:r>
              <a:endParaRPr lang="en-US" sz="1100" dirty="0">
                <a:effectLst/>
                <a:latin typeface="Times New Roman" panose="02020603050405020304" pitchFamily="18" charset="0"/>
                <a:ea typeface="Times New Roman" panose="02020603050405020304" pitchFamily="18" charset="0"/>
              </a:endParaRPr>
            </a:p>
          </p:txBody>
        </p:sp>
        <p:sp>
          <p:nvSpPr>
            <p:cNvPr id="14" name="Flowchart: Process 13">
              <a:extLst>
                <a:ext uri="{FF2B5EF4-FFF2-40B4-BE49-F238E27FC236}">
                  <a16:creationId xmlns:a16="http://schemas.microsoft.com/office/drawing/2014/main" id="{6341B0B2-FBF5-EA08-CEC3-9797B178CD9B}"/>
                </a:ext>
              </a:extLst>
            </p:cNvPr>
            <p:cNvSpPr/>
            <p:nvPr/>
          </p:nvSpPr>
          <p:spPr>
            <a:xfrm>
              <a:off x="2260600" y="1920012"/>
              <a:ext cx="1394460" cy="365760"/>
            </a:xfrm>
            <a:prstGeom prst="flowChartProcess">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100" dirty="0">
                  <a:effectLst/>
                  <a:latin typeface="Times New Roman" panose="02020603050405020304" pitchFamily="18" charset="0"/>
                  <a:ea typeface="Times New Roman" panose="02020603050405020304" pitchFamily="18" charset="0"/>
                </a:rPr>
                <a:t>Prediction</a:t>
              </a:r>
            </a:p>
          </p:txBody>
        </p:sp>
        <p:sp>
          <p:nvSpPr>
            <p:cNvPr id="17" name="Arrow: Right 16">
              <a:extLst>
                <a:ext uri="{FF2B5EF4-FFF2-40B4-BE49-F238E27FC236}">
                  <a16:creationId xmlns:a16="http://schemas.microsoft.com/office/drawing/2014/main" id="{D582FF62-4318-32AA-1D36-4CD7BFB28888}"/>
                </a:ext>
              </a:extLst>
            </p:cNvPr>
            <p:cNvSpPr/>
            <p:nvPr/>
          </p:nvSpPr>
          <p:spPr>
            <a:xfrm>
              <a:off x="1540933" y="247650"/>
              <a:ext cx="718185" cy="677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Arrow: Right 17">
              <a:extLst>
                <a:ext uri="{FF2B5EF4-FFF2-40B4-BE49-F238E27FC236}">
                  <a16:creationId xmlns:a16="http://schemas.microsoft.com/office/drawing/2014/main" id="{B96922D7-4C67-D185-36B7-2AF5773DDAB1}"/>
                </a:ext>
              </a:extLst>
            </p:cNvPr>
            <p:cNvSpPr/>
            <p:nvPr/>
          </p:nvSpPr>
          <p:spPr>
            <a:xfrm>
              <a:off x="3691467" y="239184"/>
              <a:ext cx="83820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Arrow: Down 18">
              <a:extLst>
                <a:ext uri="{FF2B5EF4-FFF2-40B4-BE49-F238E27FC236}">
                  <a16:creationId xmlns:a16="http://schemas.microsoft.com/office/drawing/2014/main" id="{C9AE2999-70C6-AD82-A75A-9B8AC51E78AA}"/>
                </a:ext>
              </a:extLst>
            </p:cNvPr>
            <p:cNvSpPr/>
            <p:nvPr/>
          </p:nvSpPr>
          <p:spPr>
            <a:xfrm>
              <a:off x="5166783" y="457200"/>
              <a:ext cx="67733" cy="6256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0" name="Arrow: Left 19">
              <a:extLst>
                <a:ext uri="{FF2B5EF4-FFF2-40B4-BE49-F238E27FC236}">
                  <a16:creationId xmlns:a16="http://schemas.microsoft.com/office/drawing/2014/main" id="{8F720FD8-D29F-2B4B-4A0E-21ADB56D66F6}"/>
                </a:ext>
              </a:extLst>
            </p:cNvPr>
            <p:cNvSpPr/>
            <p:nvPr/>
          </p:nvSpPr>
          <p:spPr>
            <a:xfrm>
              <a:off x="3725333" y="1227667"/>
              <a:ext cx="846455" cy="11853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8" name="Arrow: Down 27">
              <a:extLst>
                <a:ext uri="{FF2B5EF4-FFF2-40B4-BE49-F238E27FC236}">
                  <a16:creationId xmlns:a16="http://schemas.microsoft.com/office/drawing/2014/main" id="{1E98A5CD-9331-4DA2-18FA-C44DBA549BD6}"/>
                </a:ext>
              </a:extLst>
            </p:cNvPr>
            <p:cNvSpPr/>
            <p:nvPr/>
          </p:nvSpPr>
          <p:spPr>
            <a:xfrm>
              <a:off x="2897717" y="1473200"/>
              <a:ext cx="101600" cy="4658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974730" y="299737"/>
            <a:ext cx="10940749" cy="543175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lnSpc>
                <a:spcPct val="150000"/>
              </a:lnSpc>
              <a:buFont typeface="Wingdings" panose="05000000000000000000" charset="0"/>
              <a:buChar char="Ø"/>
            </a:pPr>
            <a:r>
              <a:rPr lang="en-US" b="1" dirty="0">
                <a:latin typeface="Times New Roman" panose="02020603050405020304" pitchFamily="18" charset="0"/>
                <a:ea typeface="Cambria" panose="02040503050406030204" pitchFamily="18" charset="0"/>
                <a:sym typeface="+mn-ea"/>
              </a:rPr>
              <a:t>Data Collection</a:t>
            </a:r>
            <a:r>
              <a:rPr lang="en-US" dirty="0">
                <a:latin typeface="Times New Roman" panose="02020603050405020304" pitchFamily="18" charset="0"/>
                <a:ea typeface="Cambria" panose="02040503050406030204" pitchFamily="18" charset="0"/>
                <a:sym typeface="+mn-ea"/>
              </a:rPr>
              <a:t>: The dataset is downloaded from Kaggle. The “traffic.csv” file contains total number of vehicles in 4 different junctions in different hours .The  dataset consists of 48120 rows and 4 columns.</a:t>
            </a:r>
          </a:p>
          <a:p>
            <a:pPr>
              <a:lnSpc>
                <a:spcPct val="150000"/>
              </a:lnSpc>
              <a:buFont typeface="Wingdings" panose="05000000000000000000" charset="0"/>
              <a:buChar char="Ø"/>
            </a:pPr>
            <a:r>
              <a:rPr lang="en-US" b="1" dirty="0">
                <a:latin typeface="Times New Roman" panose="02020603050405020304" pitchFamily="18" charset="0"/>
                <a:ea typeface="Cambria" panose="02040503050406030204" pitchFamily="18" charset="0"/>
                <a:sym typeface="+mn-ea"/>
              </a:rPr>
              <a:t>Data preprocessing</a:t>
            </a:r>
            <a:r>
              <a:rPr lang="en-US" dirty="0">
                <a:latin typeface="Times New Roman" panose="02020603050405020304" pitchFamily="18" charset="0"/>
                <a:ea typeface="Cambria" panose="02040503050406030204" pitchFamily="18" charset="0"/>
                <a:sym typeface="+mn-ea"/>
              </a:rPr>
              <a:t>: It is the process of adding missing data and correcting, repairing, or removing incorrect or irrelevant data from a data set</a:t>
            </a:r>
          </a:p>
          <a:p>
            <a:pPr>
              <a:lnSpc>
                <a:spcPct val="150000"/>
              </a:lnSpc>
              <a:buFont typeface="Wingdings" panose="05000000000000000000" charset="0"/>
              <a:buChar char="Ø"/>
            </a:pPr>
            <a:r>
              <a:rPr lang="en-US" b="1" dirty="0">
                <a:latin typeface="Times New Roman" panose="02020603050405020304" pitchFamily="18" charset="0"/>
                <a:ea typeface="Cambria" panose="02040503050406030204" pitchFamily="18" charset="0"/>
                <a:sym typeface="+mn-ea"/>
              </a:rPr>
              <a:t>Data Analysis: </a:t>
            </a:r>
            <a:r>
              <a:rPr lang="en-US" dirty="0">
                <a:latin typeface="Times New Roman" panose="02020603050405020304" pitchFamily="18" charset="0"/>
                <a:ea typeface="Cambria" panose="02040503050406030204" pitchFamily="18" charset="0"/>
                <a:sym typeface="+mn-ea"/>
              </a:rPr>
              <a:t>Process of knowing true positive , false positive, true negative, false negative.</a:t>
            </a:r>
            <a:r>
              <a:rPr lang="en-US" b="1" dirty="0">
                <a:latin typeface="Times New Roman" panose="02020603050405020304" pitchFamily="18" charset="0"/>
                <a:cs typeface="Times New Roman" panose="02020603050405020304" pitchFamily="18" charset="0"/>
                <a:sym typeface="+mn-ea"/>
              </a:rPr>
              <a:t> </a:t>
            </a:r>
            <a:endParaRPr lang="en-US" dirty="0">
              <a:latin typeface="Times New Roman" panose="02020603050405020304" pitchFamily="18" charset="0"/>
              <a:ea typeface="Cambria" panose="02040503050406030204" pitchFamily="18" charset="0"/>
              <a:sym typeface="+mn-ea"/>
            </a:endParaRPr>
          </a:p>
          <a:p>
            <a:pPr>
              <a:lnSpc>
                <a:spcPct val="150000"/>
              </a:lnSpc>
              <a:buFont typeface="Wingdings" panose="05000000000000000000" charset="0"/>
              <a:buChar char="Ø"/>
            </a:pPr>
            <a:r>
              <a:rPr lang="en-US" b="1" dirty="0">
                <a:latin typeface="Times New Roman" panose="02020603050405020304" pitchFamily="18" charset="0"/>
                <a:ea typeface="Cambria" panose="02040503050406030204" pitchFamily="18" charset="0"/>
                <a:sym typeface="+mn-ea"/>
              </a:rPr>
              <a:t>Data Transformation: </a:t>
            </a:r>
            <a:r>
              <a:rPr lang="en-US" dirty="0">
                <a:latin typeface="Times New Roman" panose="02020603050405020304" pitchFamily="18" charset="0"/>
                <a:ea typeface="Cambria" panose="02040503050406030204" pitchFamily="18" charset="0"/>
                <a:sym typeface="+mn-ea"/>
              </a:rPr>
              <a:t>The essential goal of data transformation is normalization ,deciding fitting data type, source, and instrument that permit agents to respond to explore questions sufficiently.</a:t>
            </a:r>
            <a:r>
              <a:rPr lang="en-US" b="1" dirty="0">
                <a:latin typeface="Times New Roman" panose="02020603050405020304" pitchFamily="18" charset="0"/>
                <a:cs typeface="Times New Roman" panose="02020603050405020304" pitchFamily="18" charset="0"/>
                <a:sym typeface="+mn-ea"/>
              </a:rPr>
              <a:t> </a:t>
            </a:r>
          </a:p>
          <a:p>
            <a:pPr>
              <a:lnSpc>
                <a:spcPct val="150000"/>
              </a:lnSpc>
              <a:buFont typeface="Wingdings" panose="05000000000000000000" charset="0"/>
              <a:buChar char="Ø"/>
            </a:pPr>
            <a:r>
              <a:rPr lang="en-US" b="1" dirty="0">
                <a:latin typeface="Times New Roman" panose="02020603050405020304" pitchFamily="18" charset="0"/>
                <a:cs typeface="Times New Roman" panose="02020603050405020304" pitchFamily="18" charset="0"/>
                <a:sym typeface="+mn-ea"/>
              </a:rPr>
              <a:t>Build Model</a:t>
            </a:r>
            <a:r>
              <a:rPr lang="en-US" dirty="0">
                <a:latin typeface="Times New Roman" panose="02020603050405020304" pitchFamily="18" charset="0"/>
                <a:cs typeface="Times New Roman" panose="02020603050405020304" pitchFamily="18" charset="0"/>
                <a:sym typeface="+mn-ea"/>
              </a:rPr>
              <a:t>: It creates a mathematical representation by generalizing and learning from training data</a:t>
            </a:r>
            <a:r>
              <a:rPr lang="en-US" dirty="0">
                <a:sym typeface="+mn-ea"/>
              </a:rPr>
              <a:t>.</a:t>
            </a:r>
            <a:endParaRPr lang="en-US" b="1" dirty="0">
              <a:sym typeface="+mn-ea"/>
            </a:endParaRPr>
          </a:p>
          <a:p>
            <a:pPr>
              <a:lnSpc>
                <a:spcPct val="150000"/>
              </a:lnSpc>
              <a:buFont typeface="Wingdings" panose="05000000000000000000" charset="0"/>
              <a:buChar char="Ø"/>
            </a:pPr>
            <a:r>
              <a:rPr lang="en-US" b="1" dirty="0">
                <a:sym typeface="+mn-ea"/>
              </a:rPr>
              <a:t>Prediction: </a:t>
            </a:r>
            <a:r>
              <a:rPr lang="en-US" dirty="0">
                <a:sym typeface="+mn-ea"/>
              </a:rPr>
              <a:t>Getting Accurate prediction.</a:t>
            </a:r>
            <a:endParaRPr lang="en-US" dirty="0">
              <a:latin typeface="Times New Roman" panose="02020603050405020304" pitchFamily="18" charset="0"/>
              <a:ea typeface="Cambria" panose="02040503050406030204" pitchFamily="18" charset="0"/>
              <a:sym typeface="+mn-ea"/>
            </a:endParaRPr>
          </a:p>
          <a:p>
            <a:pPr>
              <a:lnSpc>
                <a:spcPct val="150000"/>
              </a:lnSpc>
              <a:buFont typeface="Wingdings" panose="05000000000000000000" charset="0"/>
              <a:buChar char="Ø"/>
            </a:pPr>
            <a:endParaRPr lang="en-US" dirty="0">
              <a:latin typeface="Times New Roman" panose="02020603050405020304" pitchFamily="18" charset="0"/>
              <a:ea typeface="Cambria" panose="02040503050406030204" pitchFamily="18" charset="0"/>
              <a:sym typeface="+mn-ea"/>
            </a:endParaRPr>
          </a:p>
          <a:p>
            <a:pPr>
              <a:lnSpc>
                <a:spcPct val="150000"/>
              </a:lnSpc>
              <a:buFont typeface="Wingdings" panose="05000000000000000000" charset="0"/>
              <a:buChar char="Ø"/>
            </a:pPr>
            <a:endParaRPr lang="en-US" dirty="0">
              <a:latin typeface="Times New Roman" panose="02020603050405020304" pitchFamily="18" charset="0"/>
              <a:ea typeface="Cambria" panose="02040503050406030204" pitchFamily="18" charset="0"/>
              <a:sym typeface="+mn-ea"/>
            </a:endParaRPr>
          </a:p>
          <a:p>
            <a:pPr>
              <a:lnSpc>
                <a:spcPct val="150000"/>
              </a:lnSpc>
              <a:buFont typeface="Wingdings" panose="05000000000000000000" charset="0"/>
              <a:buChar char="Ø"/>
            </a:pPr>
            <a:endParaRPr lang="en-US" dirty="0">
              <a:latin typeface="Times New Roman" panose="02020603050405020304" pitchFamily="18" charset="0"/>
              <a:ea typeface="Cambria" panose="02040503050406030204" pitchFamily="18" charset="0"/>
              <a:sym typeface="+mn-ea"/>
            </a:endParaRPr>
          </a:p>
          <a:p>
            <a:pPr>
              <a:lnSpc>
                <a:spcPct val="150000"/>
              </a:lnSpc>
            </a:pPr>
            <a:endParaRPr lang="en-US" dirty="0"/>
          </a:p>
        </p:txBody>
      </p:sp>
    </p:spTree>
    <p:extLst>
      <p:ext uri="{BB962C8B-B14F-4D97-AF65-F5344CB8AC3E}">
        <p14:creationId xmlns:p14="http://schemas.microsoft.com/office/powerpoint/2010/main" val="3031277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016550"/>
          </a:xfrm>
        </p:spPr>
        <p:txBody>
          <a:bodyPr/>
          <a:lstStyle/>
          <a:p>
            <a:pPr algn="l"/>
            <a:r>
              <a:rPr lang="en-US" dirty="0"/>
              <a:t>                     GRU MODEL</a:t>
            </a:r>
          </a:p>
        </p:txBody>
      </p:sp>
      <p:sp>
        <p:nvSpPr>
          <p:cNvPr id="4" name="Text Box 5">
            <a:extLst>
              <a:ext uri="{FF2B5EF4-FFF2-40B4-BE49-F238E27FC236}">
                <a16:creationId xmlns:a16="http://schemas.microsoft.com/office/drawing/2014/main" id="{A18C6A85-A947-7DB6-5A93-CC1FC0558AEF}"/>
              </a:ext>
            </a:extLst>
          </p:cNvPr>
          <p:cNvSpPr txBox="1"/>
          <p:nvPr/>
        </p:nvSpPr>
        <p:spPr>
          <a:xfrm>
            <a:off x="626097" y="1737360"/>
            <a:ext cx="7292418" cy="2806987"/>
          </a:xfrm>
          <a:prstGeom prst="rect">
            <a:avLst/>
          </a:prstGeom>
          <a:noFill/>
        </p:spPr>
        <p:txBody>
          <a:bodyPr wrap="square" rtlCol="0">
            <a:spAutoFit/>
          </a:bodyPr>
          <a:lstStyle/>
          <a:p>
            <a:pPr marL="285750" indent="-285750" algn="just">
              <a:lnSpc>
                <a:spcPct val="150000"/>
              </a:lnSpc>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Gated Recurrent Unit (GRU) is a variant of recurrent neural networks (RNN) designed to handle sequential data. </a:t>
            </a:r>
          </a:p>
          <a:p>
            <a:pPr marL="285750" indent="-285750" algn="just">
              <a:lnSpc>
                <a:spcPct val="150000"/>
              </a:lnSpc>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Similar to Long Short-Term Memory (LSTM) networks, GRUs are effective in capturing long-term dependencies in time series data, but with a simpler architecture and fewer parameters, which often results in faster training times.</a:t>
            </a:r>
          </a:p>
        </p:txBody>
      </p:sp>
      <p:pic>
        <p:nvPicPr>
          <p:cNvPr id="5" name="Picture 4">
            <a:extLst>
              <a:ext uri="{FF2B5EF4-FFF2-40B4-BE49-F238E27FC236}">
                <a16:creationId xmlns:a16="http://schemas.microsoft.com/office/drawing/2014/main" id="{F56E534C-7EB5-2DE7-DADB-77414E70DAC1}"/>
              </a:ext>
            </a:extLst>
          </p:cNvPr>
          <p:cNvPicPr>
            <a:picLocks noChangeAspect="1"/>
          </p:cNvPicPr>
          <p:nvPr/>
        </p:nvPicPr>
        <p:blipFill>
          <a:blip r:embed="rId2"/>
          <a:stretch>
            <a:fillRect/>
          </a:stretch>
        </p:blipFill>
        <p:spPr>
          <a:xfrm>
            <a:off x="8332706" y="2367801"/>
            <a:ext cx="3426249" cy="2706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IN" dirty="0">
                <a:latin typeface="Calibri" panose="020F0502020204030204" pitchFamily="34" charset="0"/>
                <a:cs typeface="Calibri" panose="020F0502020204030204" pitchFamily="34" charset="0"/>
                <a:sym typeface="+mn-ea"/>
              </a:rPr>
              <a:t>                       </a:t>
            </a:r>
            <a:br>
              <a:rPr lang="en-US" altLang="en-IN" dirty="0">
                <a:latin typeface="Calibri" panose="020F0502020204030204" pitchFamily="34" charset="0"/>
                <a:cs typeface="Calibri" panose="020F0502020204030204" pitchFamily="34" charset="0"/>
                <a:sym typeface="+mn-ea"/>
              </a:rPr>
            </a:br>
            <a:r>
              <a:rPr lang="en-US" altLang="en-IN" dirty="0">
                <a:latin typeface="Calibri" panose="020F0502020204030204" pitchFamily="34" charset="0"/>
                <a:cs typeface="Calibri" panose="020F0502020204030204" pitchFamily="34" charset="0"/>
                <a:sym typeface="+mn-ea"/>
              </a:rPr>
              <a:t>     </a:t>
            </a:r>
            <a:br>
              <a:rPr lang="en-US" altLang="en-IN" dirty="0">
                <a:latin typeface="Calibri" panose="020F0502020204030204" pitchFamily="34" charset="0"/>
                <a:cs typeface="Calibri" panose="020F0502020204030204" pitchFamily="34" charset="0"/>
                <a:sym typeface="+mn-ea"/>
              </a:rPr>
            </a:br>
            <a:br>
              <a:rPr lang="en-US" altLang="en-IN" dirty="0">
                <a:latin typeface="Calibri" panose="020F0502020204030204" pitchFamily="34" charset="0"/>
                <a:cs typeface="Calibri" panose="020F0502020204030204" pitchFamily="34" charset="0"/>
                <a:sym typeface="+mn-ea"/>
              </a:rPr>
            </a:br>
            <a:r>
              <a:rPr lang="en-US" altLang="en-IN" dirty="0">
                <a:latin typeface="Calibri" panose="020F0502020204030204" pitchFamily="34" charset="0"/>
                <a:cs typeface="Calibri" panose="020F0502020204030204" pitchFamily="34" charset="0"/>
                <a:sym typeface="+mn-ea"/>
              </a:rPr>
              <a:t>                                   </a:t>
            </a:r>
            <a:r>
              <a:rPr lang="en-IN" dirty="0">
                <a:latin typeface="Calibri" panose="020F0502020204030204" pitchFamily="34" charset="0"/>
                <a:cs typeface="Calibri" panose="020F0502020204030204" pitchFamily="34" charset="0"/>
                <a:sym typeface="+mn-ea"/>
              </a:rPr>
              <a:t>RESULTS</a:t>
            </a:r>
            <a:br>
              <a:rPr lang="en-IN" dirty="0">
                <a:latin typeface="Calibri" panose="020F0502020204030204" pitchFamily="34" charset="0"/>
                <a:cs typeface="Calibri" panose="020F0502020204030204" pitchFamily="34" charset="0"/>
              </a:rPr>
            </a:br>
            <a:endParaRPr lang="en-US"/>
          </a:p>
        </p:txBody>
      </p:sp>
      <p:sp>
        <p:nvSpPr>
          <p:cNvPr id="3" name="Content Placeholder 2"/>
          <p:cNvSpPr>
            <a:spLocks noGrp="1"/>
          </p:cNvSpPr>
          <p:nvPr>
            <p:ph sz="half" idx="4294967295"/>
          </p:nvPr>
        </p:nvSpPr>
        <p:spPr>
          <a:xfrm>
            <a:off x="0" y="1846263"/>
            <a:ext cx="4938713" cy="4022725"/>
          </a:xfrm>
        </p:spPr>
        <p:txBody>
          <a:bodyPr/>
          <a:lstStyle/>
          <a:p>
            <a:r>
              <a:rPr lang="en-US" dirty="0">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DF50E079-CCB1-B280-216B-31C90F58B7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936" y="2369970"/>
            <a:ext cx="10896128" cy="31164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51A0BCA-C23D-4CC2-30B6-46D8022191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180" y="1734532"/>
            <a:ext cx="10891639" cy="3182223"/>
          </a:xfrm>
          <a:prstGeom prst="rect">
            <a:avLst/>
          </a:prstGeom>
        </p:spPr>
      </p:pic>
    </p:spTree>
    <p:extLst>
      <p:ext uri="{BB962C8B-B14F-4D97-AF65-F5344CB8AC3E}">
        <p14:creationId xmlns:p14="http://schemas.microsoft.com/office/powerpoint/2010/main" val="873696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98BA864-D2F9-0BBA-76D3-A41BA1E2A6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75" y="1470582"/>
            <a:ext cx="10891449" cy="3209453"/>
          </a:xfrm>
          <a:prstGeom prst="rect">
            <a:avLst/>
          </a:prstGeom>
        </p:spPr>
      </p:pic>
    </p:spTree>
    <p:extLst>
      <p:ext uri="{BB962C8B-B14F-4D97-AF65-F5344CB8AC3E}">
        <p14:creationId xmlns:p14="http://schemas.microsoft.com/office/powerpoint/2010/main" val="4003373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41EE090-BE3B-92ED-1065-40E632759E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28" y="1635485"/>
            <a:ext cx="11137944" cy="3240235"/>
          </a:xfrm>
          <a:prstGeom prst="rect">
            <a:avLst/>
          </a:prstGeom>
        </p:spPr>
      </p:pic>
    </p:spTree>
    <p:extLst>
      <p:ext uri="{BB962C8B-B14F-4D97-AF65-F5344CB8AC3E}">
        <p14:creationId xmlns:p14="http://schemas.microsoft.com/office/powerpoint/2010/main" val="2489492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9905998" cy="1094509"/>
          </a:xfrm>
        </p:spPr>
        <p:txBody>
          <a:bodyPr anchor="ctr"/>
          <a:lstStyle/>
          <a:p>
            <a:pPr algn="ctr"/>
            <a:r>
              <a:rPr lang="en-US" dirty="0">
                <a:latin typeface="Calibri" panose="020F0502020204030204" pitchFamily="34" charset="0"/>
                <a:cs typeface="Calibri" panose="020F0502020204030204" pitchFamily="34" charset="0"/>
              </a:rPr>
              <a:t>C</a:t>
            </a:r>
            <a:r>
              <a:rPr lang="en-IN" dirty="0">
                <a:latin typeface="Calibri" panose="020F0502020204030204" pitchFamily="34" charset="0"/>
                <a:cs typeface="Calibri" panose="020F0502020204030204" pitchFamily="34" charset="0"/>
              </a:rPr>
              <a:t>ONCLUSION</a:t>
            </a:r>
          </a:p>
        </p:txBody>
      </p:sp>
      <p:sp>
        <p:nvSpPr>
          <p:cNvPr id="3" name="Content Placeholder 2"/>
          <p:cNvSpPr>
            <a:spLocks noGrp="1"/>
          </p:cNvSpPr>
          <p:nvPr>
            <p:ph idx="1"/>
          </p:nvPr>
        </p:nvSpPr>
        <p:spPr>
          <a:xfrm>
            <a:off x="323850" y="1814830"/>
            <a:ext cx="11637010" cy="4433570"/>
          </a:xfrm>
        </p:spPr>
        <p:txBody>
          <a:bodyPr>
            <a:noAutofit/>
          </a:bodyPr>
          <a:lstStyle/>
          <a:p>
            <a:pPr marL="571500" indent="-342900" algn="just">
              <a:lnSpc>
                <a:spcPct val="150000"/>
              </a:lnSpc>
              <a:spcBef>
                <a:spcPts val="0"/>
              </a:spcBef>
              <a:spcAft>
                <a:spcPts val="800"/>
              </a:spcAft>
              <a:buFont typeface="Wingdings" panose="05000000000000000000" charset="0"/>
              <a:buChar char="Ø"/>
            </a:pPr>
            <a:r>
              <a:rPr lang="en-US" dirty="0">
                <a:solidFill>
                  <a:schemeClr val="tx1"/>
                </a:solidFill>
                <a:latin typeface="Times New Roman" panose="02020603050405020304" pitchFamily="18" charset="0"/>
                <a:cs typeface="Times New Roman" panose="02020603050405020304" pitchFamily="18" charset="0"/>
              </a:rPr>
              <a:t>The main objective was to develop the traffic flow prediction system by using a deep learning algorithm. By using GRU model, the prediction is done. </a:t>
            </a:r>
          </a:p>
          <a:p>
            <a:pPr marL="571500" indent="-342900" algn="just">
              <a:lnSpc>
                <a:spcPct val="150000"/>
              </a:lnSpc>
              <a:spcBef>
                <a:spcPts val="0"/>
              </a:spcBef>
              <a:spcAft>
                <a:spcPts val="800"/>
              </a:spcAft>
              <a:buFont typeface="Wingdings" panose="05000000000000000000" charset="0"/>
              <a:buChar char="Ø"/>
            </a:pPr>
            <a:r>
              <a:rPr lang="en-US" dirty="0">
                <a:solidFill>
                  <a:schemeClr val="tx1"/>
                </a:solidFill>
                <a:latin typeface="Times New Roman" panose="02020603050405020304" pitchFamily="18" charset="0"/>
                <a:cs typeface="Times New Roman" panose="02020603050405020304" pitchFamily="18" charset="0"/>
              </a:rPr>
              <a:t>The public gets the benefits such as the current situation of  the traffic flow, they can also check what will be the flow of traffic on the right after one hour of the situation and they can also know how the roads are as they can know mean of the vehicles passing though a particular junction that is 4 here. </a:t>
            </a:r>
          </a:p>
          <a:p>
            <a:pPr marL="571500" indent="-342900" algn="just">
              <a:lnSpc>
                <a:spcPct val="150000"/>
              </a:lnSpc>
              <a:spcBef>
                <a:spcPts val="0"/>
              </a:spcBef>
              <a:spcAft>
                <a:spcPts val="800"/>
              </a:spcAft>
              <a:buFont typeface="Wingdings" panose="05000000000000000000" charset="0"/>
              <a:buChar char="Ø"/>
            </a:pPr>
            <a:r>
              <a:rPr lang="en-US" dirty="0">
                <a:solidFill>
                  <a:schemeClr val="tx1"/>
                </a:solidFill>
                <a:latin typeface="Times New Roman" panose="02020603050405020304" pitchFamily="18" charset="0"/>
                <a:cs typeface="Times New Roman" panose="02020603050405020304" pitchFamily="18" charset="0"/>
              </a:rPr>
              <a:t>So, this prediction can help judging the traffic flow by comparing them with these 2 years data sets. The forecasting or the prediction can help people or the users in judging the road traffic easier before hand and even they can decide which way to go using their navigator and also this will prediction will be also helpful. </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REFERENCES</a:t>
            </a:r>
          </a:p>
        </p:txBody>
      </p:sp>
      <p:sp>
        <p:nvSpPr>
          <p:cNvPr id="3" name="Content Placeholder 2"/>
          <p:cNvSpPr>
            <a:spLocks noGrp="1"/>
          </p:cNvSpPr>
          <p:nvPr>
            <p:ph idx="1"/>
          </p:nvPr>
        </p:nvSpPr>
        <p:spPr>
          <a:xfrm>
            <a:off x="1097280" y="1845734"/>
            <a:ext cx="10058400" cy="4338250"/>
          </a:xfrm>
        </p:spPr>
        <p:txBody>
          <a:bodyPr>
            <a:noAutofit/>
          </a:bodyPr>
          <a:lstStyle/>
          <a:p>
            <a:pPr>
              <a:lnSpc>
                <a:spcPct val="150000"/>
              </a:lnSpc>
            </a:pPr>
            <a:r>
              <a:rPr lang="en-US" sz="17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Vlahogianni</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E. I., M. G.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Karlaftis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and J. C.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Golias</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Optimized and Meta-Optimized Neural Networks for Short Term Traffic Flow Prediction: A Genetic Approach. Transportation Research Part C: Emerging Technologies, Vol. 13, No. 3, 2005, pp. 211–234.</a:t>
            </a:r>
            <a:endParaRPr lang="en-US" sz="1800" dirty="0">
              <a:latin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[2].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Jiang, X., and H.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Adeli.Dynamic</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Wavelet Neural Network Model for Traffic Flow Forecasting. Journal of Transportation Engineering, Vol. 131, No. 10, 2005, pp. 771–779</a:t>
            </a:r>
            <a:endParaRPr lang="en-US" sz="1800" dirty="0">
              <a:effectLst/>
              <a:latin typeface="Times New Roman" panose="02020603050405020304" pitchFamily="18" charset="0"/>
              <a:ea typeface="Times New Roman" panose="02020603050405020304" pitchFamily="18" charset="0"/>
            </a:endParaRPr>
          </a:p>
          <a:p>
            <a:pPr marL="0" marR="0" algn="just">
              <a:lnSpc>
                <a:spcPct val="150000"/>
              </a:lnSpc>
              <a:spcBef>
                <a:spcPts val="0"/>
              </a:spcBef>
              <a:spcAft>
                <a:spcPts val="0"/>
              </a:spcAft>
            </a:pPr>
            <a:r>
              <a:rPr lang="en-US" sz="1800" dirty="0">
                <a:latin typeface="Times New Roman" panose="02020603050405020304" pitchFamily="18" charset="0"/>
                <a:cs typeface="Times New Roman" panose="02020603050405020304" pitchFamily="18" charset="0"/>
              </a:rPr>
              <a:t>[3].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Identification Traffic Flow Prediction Parameters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AnuchitRatanaparadorn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Department of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IndustrialEngineering</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KasetsartUniversity</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Thailand ,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AnuchitRatanaparadorn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SasivimolMeeampol</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ThaneeratSiripachana</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Pornthep,Anussornnitisarn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19-21 2013,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zadar</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Croatia, international conference</a:t>
            </a:r>
            <a:endParaRPr lang="en-US" sz="1800" dirty="0">
              <a:effectLst/>
              <a:latin typeface="Times New Roman" panose="02020603050405020304" pitchFamily="18" charset="0"/>
              <a:ea typeface="Times New Roman" panose="02020603050405020304" pitchFamily="18" charset="0"/>
            </a:endParaRPr>
          </a:p>
          <a:p>
            <a:pPr>
              <a:lnSpc>
                <a:spcPct val="150000"/>
              </a:lnSpc>
            </a:pPr>
            <a:r>
              <a:rPr lang="en-US" sz="1800" dirty="0">
                <a:latin typeface="Times New Roman" panose="02020603050405020304" pitchFamily="18" charset="0"/>
                <a:cs typeface="Times New Roman" panose="02020603050405020304" pitchFamily="18" charset="0"/>
              </a:rPr>
              <a:t>[4].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YuhanJia</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Jianping</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Wu, and Ming Xu, Traffic Flow Prediction with Rainfall Impact Using a Deep Learning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Method,Journal</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of Advanced Transportation, 2017.</a:t>
            </a:r>
            <a:endParaRPr lang="en-US" sz="1800" dirty="0">
              <a:effectLst/>
              <a:latin typeface="Times New Roman" panose="02020603050405020304" pitchFamily="18" charset="0"/>
              <a:ea typeface="Times New Roman" panose="02020603050405020304" pitchFamily="18" charset="0"/>
            </a:endParaRPr>
          </a:p>
          <a:p>
            <a:pPr>
              <a:lnSpc>
                <a:spcPct val="150000"/>
              </a:lnSpc>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marR="0" algn="just">
              <a:lnSpc>
                <a:spcPct val="150000"/>
              </a:lnSpc>
              <a:spcBef>
                <a:spcPts val="0"/>
              </a:spcBef>
              <a:spcAft>
                <a:spcPts val="0"/>
              </a:spcAft>
            </a:pPr>
            <a:r>
              <a:rPr lang="en-US" dirty="0">
                <a:latin typeface="Times New Roman" panose="02020603050405020304" pitchFamily="18" charset="0"/>
                <a:cs typeface="Times New Roman" panose="02020603050405020304" pitchFamily="18" charset="0"/>
              </a:rPr>
              <a:t>[5].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https://www.kaggle.com/fedesoriano/traffic-prediction-dataset</a:t>
            </a:r>
            <a:endParaRPr lang="en-US" sz="1800" dirty="0">
              <a:effectLst/>
              <a:latin typeface="Times New Roman" panose="02020603050405020304" pitchFamily="18" charset="0"/>
              <a:ea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[6]. </a:t>
            </a:r>
            <a:r>
              <a:rPr lang="en-IN" sz="1800" dirty="0">
                <a:effectLst/>
                <a:latin typeface="Times New Roman" panose="02020603050405020304" pitchFamily="18" charset="0"/>
                <a:ea typeface="Times New Roman" panose="02020603050405020304" pitchFamily="18" charset="0"/>
              </a:rPr>
              <a:t>Ioannis </a:t>
            </a:r>
            <a:r>
              <a:rPr lang="en-IN" sz="1800" dirty="0" err="1">
                <a:effectLst/>
                <a:latin typeface="Times New Roman" panose="02020603050405020304" pitchFamily="18" charset="0"/>
                <a:ea typeface="Times New Roman" panose="02020603050405020304" pitchFamily="18" charset="0"/>
              </a:rPr>
              <a:t>LoumiotisRoad</a:t>
            </a:r>
            <a:r>
              <a:rPr lang="en-IN" sz="1800" dirty="0">
                <a:effectLst/>
                <a:latin typeface="Times New Roman" panose="02020603050405020304" pitchFamily="18" charset="0"/>
                <a:ea typeface="Times New Roman" panose="02020603050405020304" pitchFamily="18" charset="0"/>
              </a:rPr>
              <a:t> Traffic Prediction Using Artificial Neural Networks 2018</a:t>
            </a:r>
          </a:p>
          <a:p>
            <a:pPr marL="0" marR="0" algn="just">
              <a:lnSpc>
                <a:spcPct val="150000"/>
              </a:lnSpc>
              <a:spcBef>
                <a:spcPts val="0"/>
              </a:spcBef>
              <a:spcAft>
                <a:spcPts val="0"/>
              </a:spcAft>
            </a:pPr>
            <a:r>
              <a:rPr lang="en-US" dirty="0">
                <a:latin typeface="Times New Roman" panose="02020603050405020304" pitchFamily="18" charset="0"/>
                <a:cs typeface="Times New Roman" panose="02020603050405020304" pitchFamily="18" charset="0"/>
              </a:rPr>
              <a:t>[7].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Amit Kumar Tyagi, Meghna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Mannoj</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Nair, Deep Learning for Clinical and Health Informatics, in the book "Computational Analysis and Deep Learning for Medical Care: Principles, Methods, and Applications", 28 July 2021, DOI: </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hlinkClick r:id="rId2"/>
              </a:rPr>
              <a:t>https://doi.org/10.1002/9781119785750.ch5</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704850" y="1752600"/>
            <a:ext cx="10782300" cy="3352800"/>
          </a:xfrm>
        </p:spPr>
        <p:txBody>
          <a:bodyPr anchor="ctr">
            <a:noAutofit/>
          </a:bodyPr>
          <a:lstStyle/>
          <a:p>
            <a:pPr algn="ctr"/>
            <a:r>
              <a:rPr lang="en-IN" sz="9600" dirty="0">
                <a:ln w="0"/>
                <a:effectLst>
                  <a:outerShdw blurRad="38100" dist="25400" dir="5400000" algn="ctr" rotWithShape="0">
                    <a:srgbClr val="6E747A">
                      <a:alpha val="43000"/>
                    </a:srgbClr>
                  </a:outerShdw>
                </a:effectLst>
                <a:latin typeface="Calibri" panose="020F0502020204030204" pitchFamily="34" charset="0"/>
                <a:cs typeface="Calibri" panose="020F0502020204030204" pitchFamily="34" charset="0"/>
              </a:rPr>
              <a:t>THANK</a:t>
            </a:r>
            <a:r>
              <a:rPr lang="en-US" altLang="en-IN" sz="9600" dirty="0">
                <a:ln w="0"/>
                <a:effectLst>
                  <a:outerShdw blurRad="38100" dist="25400" dir="5400000" algn="ctr" rotWithShape="0">
                    <a:srgbClr val="6E747A">
                      <a:alpha val="43000"/>
                    </a:srgbClr>
                  </a:outerShdw>
                </a:effectLst>
                <a:latin typeface="Calibri" panose="020F0502020204030204" pitchFamily="34" charset="0"/>
                <a:cs typeface="Calibri" panose="020F0502020204030204" pitchFamily="34" charset="0"/>
              </a:rPr>
              <a:t> </a:t>
            </a:r>
            <a:r>
              <a:rPr lang="en-IN" sz="9600" dirty="0">
                <a:ln w="0"/>
                <a:effectLst>
                  <a:outerShdw blurRad="38100" dist="25400" dir="5400000" algn="ctr" rotWithShape="0">
                    <a:srgbClr val="6E747A">
                      <a:alpha val="43000"/>
                    </a:srgbClr>
                  </a:outerShdw>
                </a:effectLst>
                <a:latin typeface="Calibri" panose="020F0502020204030204" pitchFamily="34" charset="0"/>
                <a:cs typeface="Calibri" panose="020F0502020204030204" pitchFamily="34" charset="0"/>
              </a:rPr>
              <a:t>YOU</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1020</Words>
  <Application>Microsoft Office PowerPoint</Application>
  <PresentationFormat>Widescreen</PresentationFormat>
  <Paragraphs>71</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vt:lpstr>
      <vt:lpstr>Calibri Light</vt:lpstr>
      <vt:lpstr>Times New Roman</vt:lpstr>
      <vt:lpstr>Wingdings</vt:lpstr>
      <vt:lpstr>Retrospect</vt:lpstr>
      <vt:lpstr>Channabasaveshwara Institute of Technology  (Affiliated to VTU, Belagavi &amp; Approved by AICTE, New Delhi) ( ISO 9001:2015 certified institution) NH 206 (B H Road), Gubbi, Tumkur - 572216</vt:lpstr>
      <vt:lpstr>CONTENTS</vt:lpstr>
      <vt:lpstr>INTRODUCTION</vt:lpstr>
      <vt:lpstr>PROBLEM STATEMENT</vt:lpstr>
      <vt:lpstr>OBJECTIVES</vt:lpstr>
      <vt:lpstr>                         METHODOLOGY</vt:lpstr>
      <vt:lpstr>PowerPoint Presentation</vt:lpstr>
      <vt:lpstr>                     GRU MODEL</vt:lpstr>
      <vt:lpstr>                                                                  RESULTS </vt:lpstr>
      <vt:lpstr>PowerPoint Presentation</vt:lpstr>
      <vt:lpstr>PowerPoint Presentation</vt:lpstr>
      <vt:lpstr>PowerPoint Presentation</vt:lpstr>
      <vt:lpstr>CONCLUSION</vt:lpstr>
      <vt:lpstr>                       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Channabasaveshwara Institute of Technology  (Affiliated to VTU, Belagavi &amp; Approved by AICTE, New Delhi) (NAAC Accredited &amp; ISO 9001:2015 certified institution) NH 206 (B H Road), Gubbi, Tumkur - 572216</dc:title>
  <dc:creator>Mohammed Ashhad</dc:creator>
  <cp:lastModifiedBy>afreedkhan9380@gmail.com</cp:lastModifiedBy>
  <cp:revision>41</cp:revision>
  <dcterms:created xsi:type="dcterms:W3CDTF">2023-03-07T16:32:00Z</dcterms:created>
  <dcterms:modified xsi:type="dcterms:W3CDTF">2024-05-28T16:09:36Z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0511FB577F874069822C93F3D119533B</vt:lpwstr>
  </property>
  <property fmtid="{D5CDD505-2E9C-101B-9397-08002B2CF9AE}" pid="3" name="KSOProductBuildVer">
    <vt:lpwstr>1033-11.2.0.11537</vt:lpwstr>
  </property>
</Properties>
</file>